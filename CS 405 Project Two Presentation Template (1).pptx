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2"/>
  </p:notesMasterIdLst>
  <p:sldIdLst>
    <p:sldId id="256" r:id="rId5"/>
    <p:sldId id="257" r:id="rId6"/>
    <p:sldId id="271" r:id="rId7"/>
    <p:sldId id="258" r:id="rId8"/>
    <p:sldId id="259" r:id="rId9"/>
    <p:sldId id="260" r:id="rId10"/>
    <p:sldId id="261" r:id="rId11"/>
    <p:sldId id="262" r:id="rId12"/>
    <p:sldId id="263" r:id="rId13"/>
    <p:sldId id="272" r:id="rId14"/>
    <p:sldId id="270" r:id="rId15"/>
    <p:sldId id="264" r:id="rId16"/>
    <p:sldId id="265" r:id="rId17"/>
    <p:sldId id="266" r:id="rId18"/>
    <p:sldId id="267" r:id="rId19"/>
    <p:sldId id="268" r:id="rId20"/>
    <p:sldId id="269" r:id="rId21"/>
  </p:sldIdLst>
  <p:sldSz cx="12192000" cy="6858000"/>
  <p:notesSz cx="6858000" cy="9144000"/>
  <p:embeddedFontLst>
    <p:embeddedFont>
      <p:font typeface="Century Gothic" panose="020B0502020202020204" pitchFamily="34" charset="0"/>
      <p:regular r:id="rId23"/>
      <p:bold r:id="rId24"/>
      <p:italic r:id="rId25"/>
      <p:boldItalic r:id="rId26"/>
    </p:embeddedFont>
  </p:embeddedFontLst>
  <p:custDataLst>
    <p:tags r:id="rId27"/>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680"/>
    <p:restoredTop sz="93255"/>
  </p:normalViewPr>
  <p:slideViewPr>
    <p:cSldViewPr snapToGrid="0">
      <p:cViewPr varScale="1">
        <p:scale>
          <a:sx n="44" d="100"/>
          <a:sy n="44" d="100"/>
        </p:scale>
        <p:origin x="224" y="8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3.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1.fntdata"/><Relationship Id="rId28"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gs" Target="tags/tag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I</a:t>
            </a:r>
            <a:endParaRPr dirty="0"/>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I</a:t>
            </a:r>
            <a:endParaRPr dirty="0"/>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47419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lang="en-US" dirty="0"/>
          </a:p>
        </p:txBody>
      </p:sp>
    </p:spTree>
    <p:extLst>
      <p:ext uri="{BB962C8B-B14F-4D97-AF65-F5344CB8AC3E}">
        <p14:creationId xmlns:p14="http://schemas.microsoft.com/office/powerpoint/2010/main" val="3015893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8092438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5.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3.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dirty="0"/>
              <a:t>Green Pace</a:t>
            </a:r>
            <a:endParaRPr dirty="0"/>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Kimberly Blackwood</a:t>
            </a:r>
            <a:endParaRPr dirty="0"/>
          </a:p>
          <a:p>
            <a:pPr marL="0" lvl="0" indent="0" algn="l" rtl="0">
              <a:lnSpc>
                <a:spcPct val="70000"/>
              </a:lnSpc>
              <a:spcBef>
                <a:spcPts val="1000"/>
              </a:spcBef>
              <a:spcAft>
                <a:spcPts val="0"/>
              </a:spcAft>
              <a:buClr>
                <a:schemeClr val="lt1"/>
              </a:buClr>
              <a:buSzPts val="1850"/>
              <a:buNone/>
            </a:pPr>
            <a:endParaRPr sz="1850" i="1"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OVERVIEW</a:t>
            </a:r>
            <a:endParaRPr dirty="0"/>
          </a:p>
        </p:txBody>
      </p:sp>
      <p:sp>
        <p:nvSpPr>
          <p:cNvPr id="152" name="Google Shape;152;p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lnSpcReduction="10000"/>
          </a:bodyPr>
          <a:lstStyle/>
          <a:p>
            <a:pPr marL="685800" lvl="0" indent="0" algn="l" rtl="0">
              <a:lnSpc>
                <a:spcPct val="90000"/>
              </a:lnSpc>
              <a:spcBef>
                <a:spcPts val="0"/>
              </a:spcBef>
              <a:spcAft>
                <a:spcPts val="0"/>
              </a:spcAft>
              <a:buSzPts val="1800"/>
              <a:buNone/>
            </a:pPr>
            <a:endParaRPr lang="en-US" dirty="0"/>
          </a:p>
          <a:p>
            <a:pPr marL="685800" lvl="0" indent="0" algn="l" rtl="0">
              <a:lnSpc>
                <a:spcPct val="90000"/>
              </a:lnSpc>
              <a:spcBef>
                <a:spcPts val="0"/>
              </a:spcBef>
              <a:spcAft>
                <a:spcPts val="0"/>
              </a:spcAft>
              <a:buSzPts val="1800"/>
              <a:buNone/>
            </a:pPr>
            <a:r>
              <a:rPr lang="en-US" dirty="0"/>
              <a:t>As a developer I have been tasked with presenting a brand-new security policy to the whole development team for Green Pace. My presentation contains policies, standards, principles, and best practices that help prevent the threat of potential security vulnerabilities in both code development and systems architecture. ( will present the Green Pace security guide, along with implementation and maintenance guidelines.</a:t>
            </a:r>
          </a:p>
          <a:p>
            <a:pPr marL="685800" lvl="0" indent="0" algn="l" rtl="0">
              <a:lnSpc>
                <a:spcPct val="90000"/>
              </a:lnSpc>
              <a:spcBef>
                <a:spcPts val="0"/>
              </a:spcBef>
              <a:spcAft>
                <a:spcPts val="0"/>
              </a:spcAft>
              <a:buSzPts val="1800"/>
              <a:buNone/>
            </a:pPr>
            <a:r>
              <a:rPr lang="en-US" dirty="0"/>
              <a:t>I will translate our informal, day-to-day practices into official procedures focusing on the attack surface and vulnerability assumptions. </a:t>
            </a:r>
          </a:p>
          <a:p>
            <a:pPr marL="685800" indent="0">
              <a:spcBef>
                <a:spcPts val="0"/>
              </a:spcBef>
              <a:buNone/>
            </a:pPr>
            <a:endParaRPr lang="en-US" dirty="0"/>
          </a:p>
          <a:p>
            <a:pPr marL="685800" lvl="0" indent="0" algn="l" rtl="0">
              <a:lnSpc>
                <a:spcPct val="90000"/>
              </a:lnSpc>
              <a:spcBef>
                <a:spcPts val="0"/>
              </a:spcBef>
              <a:spcAft>
                <a:spcPts val="0"/>
              </a:spcAft>
              <a:buSzPts val="1800"/>
              <a:buNone/>
            </a:pPr>
            <a:r>
              <a:rPr lang="en-US" dirty="0"/>
              <a:t> </a:t>
            </a:r>
          </a:p>
          <a:p>
            <a:pPr marL="685800" lvl="0" indent="0" algn="l" rtl="0">
              <a:lnSpc>
                <a:spcPct val="90000"/>
              </a:lnSpc>
              <a:spcBef>
                <a:spcPts val="0"/>
              </a:spcBef>
              <a:spcAft>
                <a:spcPts val="0"/>
              </a:spcAft>
              <a:buSzPts val="1800"/>
              <a:buNone/>
            </a:pPr>
            <a:endParaRPr lang="en-US" sz="2000" dirty="0"/>
          </a:p>
          <a:p>
            <a:pPr marL="685800" lvl="0" indent="0" algn="l" rtl="0">
              <a:lnSpc>
                <a:spcPct val="90000"/>
              </a:lnSpc>
              <a:spcBef>
                <a:spcPts val="0"/>
              </a:spcBef>
              <a:spcAft>
                <a:spcPts val="0"/>
              </a:spcAft>
              <a:buSzPts val="1800"/>
              <a:buNone/>
            </a:pPr>
            <a:endParaRPr lang="en-US" sz="1600" dirty="0"/>
          </a:p>
          <a:p>
            <a:pPr marL="685800" lvl="0" indent="0" algn="l" rtl="0">
              <a:lnSpc>
                <a:spcPct val="90000"/>
              </a:lnSpc>
              <a:spcBef>
                <a:spcPts val="0"/>
              </a:spcBef>
              <a:spcAft>
                <a:spcPts val="0"/>
              </a:spcAft>
              <a:buSzPts val="1800"/>
              <a:buNone/>
            </a:pPr>
            <a:r>
              <a:rPr lang="en-US" sz="1800" kern="0" dirty="0">
                <a:solidFill>
                  <a:srgbClr val="000000"/>
                </a:solidFill>
                <a:effectLst/>
                <a:latin typeface="Times New Roman" panose="02020603050405020304" pitchFamily="18" charset="0"/>
                <a:ea typeface="Times New Roman" panose="02020603050405020304" pitchFamily="18" charset="0"/>
              </a:rPr>
              <a:t>Defense In Depth - instead of depending on a single security perimeter, Defense In Depth is a layered security approach that ensures </a:t>
            </a:r>
            <a:endParaRPr sz="1600" dirty="0"/>
          </a:p>
          <a:p>
            <a:pPr marL="0" lvl="0" indent="0" algn="l" rtl="0">
              <a:lnSpc>
                <a:spcPct val="90000"/>
              </a:lnSpc>
              <a:spcBef>
                <a:spcPts val="1000"/>
              </a:spcBef>
              <a:spcAft>
                <a:spcPts val="0"/>
              </a:spcAft>
              <a:buClr>
                <a:schemeClr val="lt1"/>
              </a:buClr>
              <a:buSzPts val="2200"/>
              <a:buNone/>
            </a:pPr>
            <a:endParaRPr dirty="0"/>
          </a:p>
        </p:txBody>
      </p:sp>
      <p:pic>
        <p:nvPicPr>
          <p:cNvPr id="154" name="Google Shape;154;p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OVERVIEW: DEFENSE IN DEPTH</a:t>
            </a:r>
            <a:endParaRPr dirty="0"/>
          </a:p>
        </p:txBody>
      </p:sp>
      <p:sp>
        <p:nvSpPr>
          <p:cNvPr id="152" name="Google Shape;152;p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685800" lvl="0" indent="0" algn="l" rtl="0">
              <a:lnSpc>
                <a:spcPct val="90000"/>
              </a:lnSpc>
              <a:spcBef>
                <a:spcPts val="0"/>
              </a:spcBef>
              <a:spcAft>
                <a:spcPts val="0"/>
              </a:spcAft>
              <a:buSzPts val="1800"/>
              <a:buNone/>
            </a:pPr>
            <a:r>
              <a:rPr lang="en-US" sz="1600" dirty="0"/>
              <a:t>What is Defense In Depth?</a:t>
            </a:r>
          </a:p>
          <a:p>
            <a:pPr marL="685800" lvl="0" indent="0" algn="l" rtl="0">
              <a:lnSpc>
                <a:spcPct val="90000"/>
              </a:lnSpc>
              <a:spcBef>
                <a:spcPts val="0"/>
              </a:spcBef>
              <a:spcAft>
                <a:spcPts val="0"/>
              </a:spcAft>
              <a:buSzPts val="1800"/>
              <a:buNone/>
            </a:pPr>
            <a:r>
              <a:rPr lang="en-US" sz="1600" dirty="0"/>
              <a:t>Defense In Depth Is not depending on a single security perimeter. It  is a layered security approach that ensures that one compromised point does not grant total access to the entire network. The diagram below shows the different layers of security that is provided when Defense In Depth is applied.</a:t>
            </a:r>
          </a:p>
          <a:p>
            <a:pPr marL="685800" lvl="0" indent="0" algn="l" rtl="0">
              <a:lnSpc>
                <a:spcPct val="90000"/>
              </a:lnSpc>
              <a:spcBef>
                <a:spcPts val="0"/>
              </a:spcBef>
              <a:spcAft>
                <a:spcPts val="0"/>
              </a:spcAft>
              <a:buSzPts val="1800"/>
              <a:buNone/>
            </a:pPr>
            <a:endParaRPr lang="en-US" sz="1600" dirty="0"/>
          </a:p>
          <a:p>
            <a:pPr marL="685800" lvl="0" indent="0" algn="l" rtl="0">
              <a:lnSpc>
                <a:spcPct val="90000"/>
              </a:lnSpc>
              <a:spcBef>
                <a:spcPts val="0"/>
              </a:spcBef>
              <a:spcAft>
                <a:spcPts val="0"/>
              </a:spcAft>
              <a:buSzPts val="1800"/>
              <a:buNone/>
            </a:pPr>
            <a:r>
              <a:rPr lang="en-US" sz="1800" kern="0" dirty="0">
                <a:solidFill>
                  <a:srgbClr val="000000"/>
                </a:solidFill>
                <a:effectLst/>
                <a:latin typeface="Times New Roman" panose="02020603050405020304" pitchFamily="18" charset="0"/>
                <a:ea typeface="Times New Roman" panose="02020603050405020304" pitchFamily="18" charset="0"/>
              </a:rPr>
              <a:t>Defense In Depth - instead of depending on a single security perimeter, Defense In Depth is a layered security approach that ensures </a:t>
            </a:r>
            <a:endParaRPr sz="1600" dirty="0"/>
          </a:p>
          <a:p>
            <a:pPr marL="0" lvl="0" indent="0" algn="l" rtl="0">
              <a:lnSpc>
                <a:spcPct val="90000"/>
              </a:lnSpc>
              <a:spcBef>
                <a:spcPts val="1000"/>
              </a:spcBef>
              <a:spcAft>
                <a:spcPts val="0"/>
              </a:spcAft>
              <a:buClr>
                <a:schemeClr val="lt1"/>
              </a:buClr>
              <a:buSzPts val="2200"/>
              <a:buNone/>
            </a:pPr>
            <a:endParaRPr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3125474" y="3429000"/>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extLst>
      <p:ext uri="{BB962C8B-B14F-4D97-AF65-F5344CB8AC3E}">
        <p14:creationId xmlns:p14="http://schemas.microsoft.com/office/powerpoint/2010/main" val="1735124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a:spLocks noGrp="1"/>
          </p:cNvSpPr>
          <p:nvPr>
            <p:ph type="body" idx="1"/>
          </p:nvPr>
        </p:nvSpPr>
        <p:spPr>
          <a:xfrm>
            <a:off x="685800" y="2194550"/>
            <a:ext cx="2486100" cy="4024200"/>
          </a:xfrm>
          <a:prstGeom prst="rect">
            <a:avLst/>
          </a:prstGeom>
          <a:noFill/>
          <a:ln>
            <a:noFill/>
          </a:ln>
        </p:spPr>
        <p:txBody>
          <a:bodyPr spcFirstLastPara="1" wrap="square" lIns="91425" tIns="45700" rIns="91425" bIns="45700" anchor="t" anchorCtr="0">
            <a:normAutofit fontScale="40000" lnSpcReduction="20000"/>
          </a:bodyPr>
          <a:lstStyle/>
          <a:p>
            <a:pPr marL="228600" lvl="0" indent="0" algn="l" rtl="0">
              <a:lnSpc>
                <a:spcPct val="107916"/>
              </a:lnSpc>
              <a:spcBef>
                <a:spcPts val="0"/>
              </a:spcBef>
              <a:spcAft>
                <a:spcPts val="0"/>
              </a:spcAft>
              <a:buSzPts val="1800"/>
              <a:buNone/>
            </a:pPr>
            <a:r>
              <a:rPr lang="en-US" sz="3300" dirty="0">
                <a:solidFill>
                  <a:srgbClr val="FFFFFF"/>
                </a:solidFill>
              </a:rPr>
              <a:t>Threats ,the show matrix. This is what we use to access security risk and how important or frequent are the potential threats to our system.  We can see in the upper left we have threats that are likely, they have a high chance to cause a potential exploit., in the upper right we have the priority threats, likely and high severity with a low cost of </a:t>
            </a:r>
            <a:r>
              <a:rPr lang="en-US" sz="3300" dirty="0" err="1">
                <a:solidFill>
                  <a:srgbClr val="FFFFFF"/>
                </a:solidFill>
              </a:rPr>
              <a:t>repsair</a:t>
            </a:r>
            <a:r>
              <a:rPr lang="en-US" sz="3300" dirty="0">
                <a:solidFill>
                  <a:srgbClr val="FFFFFF"/>
                </a:solidFill>
              </a:rPr>
              <a:t>. In the lower left we have low priority, low severity with a high cost if exploited. Finally, we have the threats that are unlikely, not likely to cause a potential exploit.</a:t>
            </a:r>
            <a:endParaRPr sz="3300" dirty="0"/>
          </a:p>
          <a:p>
            <a:pPr marL="228600" lvl="0" indent="-88900" algn="l" rtl="0">
              <a:lnSpc>
                <a:spcPct val="90000"/>
              </a:lnSpc>
              <a:spcBef>
                <a:spcPts val="1000"/>
              </a:spcBef>
              <a:spcAft>
                <a:spcPts val="0"/>
              </a:spcAft>
              <a:buClr>
                <a:schemeClr val="lt1"/>
              </a:buClr>
              <a:buSzPts val="2200"/>
              <a:buNone/>
            </a:pPr>
            <a:endParaRPr dirty="0"/>
          </a:p>
        </p:txBody>
      </p:sp>
      <p:graphicFrame>
        <p:nvGraphicFramePr>
          <p:cNvPr id="161" name="Google Shape;161;p4" descr="Alt text required"/>
          <p:cNvGraphicFramePr/>
          <p:nvPr>
            <p:extLst>
              <p:ext uri="{D42A27DB-BD31-4B8C-83A1-F6EECF244321}">
                <p14:modId xmlns:p14="http://schemas.microsoft.com/office/powerpoint/2010/main" val="1860844381"/>
              </p:ext>
            </p:extLst>
          </p:nvPr>
        </p:nvGraphicFramePr>
        <p:xfrm>
          <a:off x="3171900" y="2561050"/>
          <a:ext cx="7835225" cy="530346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Likely here.</a:t>
                      </a:r>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STD-003-CPP</a:t>
                      </a:r>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STD-005-CPP</a:t>
                      </a:r>
                      <a:endParaRPr sz="3600" u="none" strike="noStrike" cap="none" dirty="0">
                        <a:solidFill>
                          <a:srgbClr val="FFD966"/>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chemeClr val="tx1"/>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Priority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STD-001-CPP</a:t>
                      </a:r>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STD-002-CPP</a:t>
                      </a:r>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STD-004-CPP</a:t>
                      </a:r>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STD-009-CPP</a:t>
                      </a:r>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STD-010-CPP</a:t>
                      </a: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chemeClr val="tx1"/>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Low priority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STD-007-CPP</a:t>
                      </a: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chemeClr val="tx1"/>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Unlikely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STD-006-CPP</a:t>
                      </a:r>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STD-008-CPP</a:t>
                      </a: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chemeClr val="tx1"/>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lt1"/>
              </a:buClr>
              <a:buSzPts val="2200"/>
              <a:buNone/>
            </a:pPr>
            <a:r>
              <a:rPr lang="en-US" dirty="0"/>
              <a:t>Now we will talk about the 10 principles:</a:t>
            </a:r>
          </a:p>
          <a:p>
            <a:pPr marL="228600" lvl="0" indent="-228600" algn="l" rtl="0">
              <a:lnSpc>
                <a:spcPct val="90000"/>
              </a:lnSpc>
              <a:spcBef>
                <a:spcPts val="0"/>
              </a:spcBef>
              <a:spcAft>
                <a:spcPts val="0"/>
              </a:spcAft>
              <a:buClr>
                <a:schemeClr val="lt1"/>
              </a:buClr>
              <a:buSzPts val="2200"/>
              <a:buChar char="•"/>
            </a:pPr>
            <a:r>
              <a:rPr lang="en-US" dirty="0"/>
              <a:t>Validate input data – you should never trust outside data.</a:t>
            </a:r>
          </a:p>
          <a:p>
            <a:pPr marL="228600" lvl="0" indent="-228600" algn="l" rtl="0">
              <a:lnSpc>
                <a:spcPct val="90000"/>
              </a:lnSpc>
              <a:spcBef>
                <a:spcPts val="0"/>
              </a:spcBef>
              <a:spcAft>
                <a:spcPts val="0"/>
              </a:spcAft>
              <a:buClr>
                <a:schemeClr val="lt1"/>
              </a:buClr>
              <a:buSzPts val="2200"/>
              <a:buChar char="•"/>
            </a:pPr>
            <a:r>
              <a:rPr lang="en-US" dirty="0"/>
              <a:t>Obey compiler warnings – enable all compiler warnings and heed to them.</a:t>
            </a:r>
          </a:p>
          <a:p>
            <a:pPr marL="228600" lvl="0" indent="-228600" algn="l" rtl="0">
              <a:lnSpc>
                <a:spcPct val="90000"/>
              </a:lnSpc>
              <a:spcBef>
                <a:spcPts val="0"/>
              </a:spcBef>
              <a:spcAft>
                <a:spcPts val="0"/>
              </a:spcAft>
              <a:buClr>
                <a:schemeClr val="lt1"/>
              </a:buClr>
              <a:buSzPts val="2200"/>
              <a:buChar char="•"/>
            </a:pPr>
            <a:r>
              <a:rPr lang="en-US" dirty="0"/>
              <a:t>Architect and design for security policies – by dividing the system into distinct,  privilege specific subsystems the software architecture enforces security policies. </a:t>
            </a:r>
          </a:p>
          <a:p>
            <a:pPr marL="228600" lvl="0" indent="-228600" algn="l" rtl="0">
              <a:lnSpc>
                <a:spcPct val="90000"/>
              </a:lnSpc>
              <a:spcBef>
                <a:spcPts val="0"/>
              </a:spcBef>
              <a:spcAft>
                <a:spcPts val="0"/>
              </a:spcAft>
              <a:buClr>
                <a:schemeClr val="lt1"/>
              </a:buClr>
              <a:buSzPts val="2200"/>
              <a:buChar char="•"/>
            </a:pPr>
            <a:r>
              <a:rPr lang="en-US" dirty="0"/>
              <a:t>Keep it simple – it is important to keep design simple and concise.</a:t>
            </a:r>
          </a:p>
          <a:p>
            <a:pPr marL="228600" lvl="0" indent="-228600" algn="l" rtl="0">
              <a:lnSpc>
                <a:spcPct val="90000"/>
              </a:lnSpc>
              <a:spcBef>
                <a:spcPts val="0"/>
              </a:spcBef>
              <a:spcAft>
                <a:spcPts val="0"/>
              </a:spcAft>
              <a:buClr>
                <a:schemeClr val="lt1"/>
              </a:buClr>
              <a:buSzPts val="2200"/>
              <a:buChar char="•"/>
            </a:pPr>
            <a:r>
              <a:rPr lang="en-US" dirty="0"/>
              <a:t>Default deny – by default there is no access unless you specify that there is access.</a:t>
            </a:r>
          </a:p>
          <a:p>
            <a:pPr marL="228600" lvl="0" indent="-228600" algn="l" rtl="0">
              <a:lnSpc>
                <a:spcPct val="90000"/>
              </a:lnSpc>
              <a:spcBef>
                <a:spcPts val="0"/>
              </a:spcBef>
              <a:spcAft>
                <a:spcPts val="0"/>
              </a:spcAft>
              <a:buClr>
                <a:schemeClr val="lt1"/>
              </a:buClr>
              <a:buSzPts val="2200"/>
              <a:buChar char="•"/>
            </a:pPr>
            <a:r>
              <a:rPr lang="en-US" dirty="0"/>
              <a:t>Adhere to the principle of least privilege – every process should run with the minimum privileges required to perform its function.</a:t>
            </a:r>
          </a:p>
          <a:p>
            <a:pPr marL="228600" lvl="0" indent="-228600" algn="l" rtl="0">
              <a:lnSpc>
                <a:spcPct val="90000"/>
              </a:lnSpc>
              <a:spcBef>
                <a:spcPts val="0"/>
              </a:spcBef>
              <a:spcAft>
                <a:spcPts val="0"/>
              </a:spcAft>
              <a:buClr>
                <a:schemeClr val="lt1"/>
              </a:buClr>
              <a:buSzPts val="2200"/>
              <a:buChar char="•"/>
            </a:pPr>
            <a:r>
              <a:rPr lang="en-US" dirty="0"/>
              <a:t>Sanitize data sent to other systems – always sanitize data before directing it to complex subsystems such as databases and command shells.</a:t>
            </a:r>
          </a:p>
          <a:p>
            <a:pPr marL="228600" lvl="0" indent="-228600" algn="l" rtl="0">
              <a:lnSpc>
                <a:spcPct val="90000"/>
              </a:lnSpc>
              <a:spcBef>
                <a:spcPts val="0"/>
              </a:spcBef>
              <a:spcAft>
                <a:spcPts val="0"/>
              </a:spcAft>
              <a:buClr>
                <a:schemeClr val="lt1"/>
              </a:buClr>
              <a:buSzPts val="2200"/>
              <a:buChar char="•"/>
            </a:pPr>
            <a:r>
              <a:rPr lang="en-US" dirty="0"/>
              <a:t>Practice Defense in Depth - reduce risk through Defense In Depth.</a:t>
            </a:r>
          </a:p>
          <a:p>
            <a:pPr marL="228600" lvl="0" indent="-228600" algn="l" rtl="0">
              <a:lnSpc>
                <a:spcPct val="90000"/>
              </a:lnSpc>
              <a:spcBef>
                <a:spcPts val="0"/>
              </a:spcBef>
              <a:spcAft>
                <a:spcPts val="0"/>
              </a:spcAft>
              <a:buClr>
                <a:schemeClr val="lt1"/>
              </a:buClr>
              <a:buSzPts val="2200"/>
              <a:buChar char="•"/>
            </a:pPr>
            <a:r>
              <a:rPr lang="en-US" dirty="0"/>
              <a:t>Use effective quality assurance techniques – effective quality assurance procedures are critical for locating and removing </a:t>
            </a:r>
            <a:r>
              <a:rPr lang="en-US" dirty="0" err="1"/>
              <a:t>vu;neralbilities</a:t>
            </a:r>
            <a:r>
              <a:rPr lang="en-US" dirty="0"/>
              <a:t>.</a:t>
            </a:r>
          </a:p>
          <a:p>
            <a:pPr marL="228600" lvl="0" indent="-228600" algn="l" rtl="0">
              <a:lnSpc>
                <a:spcPct val="90000"/>
              </a:lnSpc>
              <a:spcBef>
                <a:spcPts val="0"/>
              </a:spcBef>
              <a:spcAft>
                <a:spcPts val="0"/>
              </a:spcAft>
              <a:buClr>
                <a:schemeClr val="lt1"/>
              </a:buClr>
              <a:buSzPts val="2200"/>
              <a:buChar char="•"/>
            </a:pPr>
            <a:r>
              <a:rPr lang="en-US" dirty="0"/>
              <a:t>Adapt a secure coding standard – apply and follow a secure coding standard.</a:t>
            </a:r>
          </a:p>
          <a:p>
            <a:pPr marL="228600" lvl="0" indent="-228600" algn="l" rtl="0">
              <a:lnSpc>
                <a:spcPct val="90000"/>
              </a:lnSpc>
              <a:spcBef>
                <a:spcPts val="0"/>
              </a:spcBef>
              <a:spcAft>
                <a:spcPts val="0"/>
              </a:spcAft>
              <a:buClr>
                <a:schemeClr val="lt1"/>
              </a:buClr>
              <a:buSzPts val="2200"/>
              <a:buChar char="•"/>
            </a:pPr>
            <a:endParaRPr lang="en-US" dirty="0"/>
          </a:p>
          <a:p>
            <a:pPr marL="228600" lvl="0" indent="-228600" algn="l" rtl="0">
              <a:lnSpc>
                <a:spcPct val="90000"/>
              </a:lnSpc>
              <a:spcBef>
                <a:spcPts val="0"/>
              </a:spcBef>
              <a:spcAft>
                <a:spcPts val="0"/>
              </a:spcAft>
              <a:buClr>
                <a:schemeClr val="lt1"/>
              </a:buClr>
              <a:buSzPts val="2200"/>
              <a:buChar char="•"/>
            </a:pPr>
            <a:endParaRPr lang="en-US" dirty="0"/>
          </a:p>
          <a:p>
            <a:pPr marL="228600" lvl="0" indent="-228600" algn="l" rtl="0">
              <a:lnSpc>
                <a:spcPct val="90000"/>
              </a:lnSpc>
              <a:spcBef>
                <a:spcPts val="0"/>
              </a:spcBef>
              <a:spcAft>
                <a:spcPts val="0"/>
              </a:spcAft>
              <a:buClr>
                <a:schemeClr val="lt1"/>
              </a:buClr>
              <a:buSzPts val="2200"/>
              <a:buChar char="•"/>
            </a:pPr>
            <a:endParaRPr lang="en-US" dirty="0"/>
          </a:p>
          <a:p>
            <a:pPr marL="228600" lvl="0" indent="-228600" algn="l" rtl="0">
              <a:lnSpc>
                <a:spcPct val="90000"/>
              </a:lnSpc>
              <a:spcBef>
                <a:spcPts val="0"/>
              </a:spcBef>
              <a:spcAft>
                <a:spcPts val="0"/>
              </a:spcAft>
              <a:buClr>
                <a:schemeClr val="lt1"/>
              </a:buClr>
              <a:buSzPts val="2200"/>
              <a:buChar char="•"/>
            </a:pPr>
            <a:endParaRPr lang="en-US" dirty="0"/>
          </a:p>
          <a:p>
            <a:pPr marL="228600" lvl="0" indent="-228600" algn="l" rtl="0">
              <a:lnSpc>
                <a:spcPct val="90000"/>
              </a:lnSpc>
              <a:spcBef>
                <a:spcPts val="0"/>
              </a:spcBef>
              <a:spcAft>
                <a:spcPts val="0"/>
              </a:spcAft>
              <a:buClr>
                <a:schemeClr val="lt1"/>
              </a:buClr>
              <a:buSzPts val="2200"/>
              <a:buChar char="•"/>
            </a:pPr>
            <a:endParaRPr lang="en-US" dirty="0"/>
          </a:p>
          <a:p>
            <a:pPr marL="228600" lvl="0" indent="-228600" algn="l" rtl="0">
              <a:lnSpc>
                <a:spcPct val="90000"/>
              </a:lnSpc>
              <a:spcBef>
                <a:spcPts val="0"/>
              </a:spcBef>
              <a:spcAft>
                <a:spcPts val="0"/>
              </a:spcAft>
              <a:buClr>
                <a:schemeClr val="lt1"/>
              </a:buClr>
              <a:buSzPts val="2200"/>
              <a:buChar char="•"/>
            </a:pPr>
            <a:endParaRPr dirty="0"/>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CODING STANDARDS</a:t>
            </a:r>
            <a:endParaRPr dirty="0"/>
          </a:p>
        </p:txBody>
      </p:sp>
      <p:sp>
        <p:nvSpPr>
          <p:cNvPr id="175" name="Google Shape;175;p6"/>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lt1"/>
              </a:buClr>
              <a:buSzPts val="2000"/>
              <a:buNone/>
            </a:pPr>
            <a:r>
              <a:rPr lang="en-US" sz="2000" dirty="0"/>
              <a:t>We will now look at the </a:t>
            </a:r>
            <a:r>
              <a:rPr lang="en-US" sz="2000" dirty="0" err="1"/>
              <a:t>oding</a:t>
            </a:r>
            <a:r>
              <a:rPr lang="en-US" sz="2000" dirty="0"/>
              <a:t> standards in my security policy.</a:t>
            </a:r>
          </a:p>
          <a:p>
            <a:pPr marL="0" lvl="0" indent="0" algn="l" rtl="0">
              <a:lnSpc>
                <a:spcPct val="90000"/>
              </a:lnSpc>
              <a:spcBef>
                <a:spcPts val="0"/>
              </a:spcBef>
              <a:spcAft>
                <a:spcPts val="0"/>
              </a:spcAft>
              <a:buClr>
                <a:schemeClr val="lt1"/>
              </a:buClr>
              <a:buSzPts val="2000"/>
              <a:buNone/>
            </a:pPr>
            <a:r>
              <a:rPr lang="en-US" sz="2000" dirty="0"/>
              <a:t>1.Range verification –avoid index errors and out of bounds</a:t>
            </a:r>
          </a:p>
          <a:p>
            <a:pPr marL="0" lvl="0" indent="0" algn="l" rtl="0">
              <a:lnSpc>
                <a:spcPct val="90000"/>
              </a:lnSpc>
              <a:spcBef>
                <a:spcPts val="0"/>
              </a:spcBef>
              <a:spcAft>
                <a:spcPts val="0"/>
              </a:spcAft>
              <a:buClr>
                <a:schemeClr val="lt1"/>
              </a:buClr>
              <a:buSzPts val="2000"/>
              <a:buNone/>
            </a:pPr>
            <a:r>
              <a:rPr lang="en-US" sz="2000" dirty="0"/>
              <a:t>2.No </a:t>
            </a:r>
            <a:r>
              <a:rPr lang="en-US" sz="2000" dirty="0" err="1"/>
              <a:t>Args</a:t>
            </a:r>
            <a:r>
              <a:rPr lang="en-US" sz="2000" dirty="0"/>
              <a:t> C-Style functions – always check the arguments passed</a:t>
            </a:r>
          </a:p>
          <a:p>
            <a:pPr marL="0" lvl="0" indent="0" algn="l" rtl="0">
              <a:lnSpc>
                <a:spcPct val="90000"/>
              </a:lnSpc>
              <a:spcBef>
                <a:spcPts val="0"/>
              </a:spcBef>
              <a:spcAft>
                <a:spcPts val="0"/>
              </a:spcAft>
              <a:buClr>
                <a:schemeClr val="lt1"/>
              </a:buClr>
              <a:buSzPts val="2000"/>
              <a:buNone/>
            </a:pPr>
            <a:r>
              <a:rPr lang="en-US" sz="2000" dirty="0"/>
              <a:t>3.Overflow Prevention – ensure that assignment fit in the buffer.</a:t>
            </a:r>
          </a:p>
          <a:p>
            <a:pPr marL="0" lvl="0" indent="0" algn="l" rtl="0">
              <a:lnSpc>
                <a:spcPct val="90000"/>
              </a:lnSpc>
              <a:spcBef>
                <a:spcPts val="0"/>
              </a:spcBef>
              <a:spcAft>
                <a:spcPts val="0"/>
              </a:spcAft>
              <a:buClr>
                <a:schemeClr val="lt1"/>
              </a:buClr>
              <a:buSzPts val="2000"/>
              <a:buNone/>
            </a:pPr>
            <a:r>
              <a:rPr lang="en-US" sz="2000" dirty="0"/>
              <a:t>4.Explicit code – the more explicit the better.</a:t>
            </a:r>
          </a:p>
          <a:p>
            <a:pPr marL="0" lvl="0" indent="0" algn="l" rtl="0">
              <a:lnSpc>
                <a:spcPct val="90000"/>
              </a:lnSpc>
              <a:spcBef>
                <a:spcPts val="0"/>
              </a:spcBef>
              <a:spcAft>
                <a:spcPts val="0"/>
              </a:spcAft>
              <a:buClr>
                <a:schemeClr val="lt1"/>
              </a:buClr>
              <a:buSzPts val="2000"/>
              <a:buNone/>
            </a:pPr>
            <a:r>
              <a:rPr lang="en-US" sz="2000" dirty="0"/>
              <a:t>5.Unsafe memory access – prevent things as </a:t>
            </a:r>
            <a:r>
              <a:rPr lang="en-US" sz="2000" dirty="0" err="1"/>
              <a:t>dereferencig</a:t>
            </a:r>
            <a:r>
              <a:rPr lang="en-US" sz="2000" dirty="0"/>
              <a:t> pointers</a:t>
            </a:r>
          </a:p>
          <a:p>
            <a:pPr marL="0" lvl="0" indent="0" algn="l" rtl="0">
              <a:lnSpc>
                <a:spcPct val="90000"/>
              </a:lnSpc>
              <a:spcBef>
                <a:spcPts val="0"/>
              </a:spcBef>
              <a:spcAft>
                <a:spcPts val="0"/>
              </a:spcAft>
              <a:buClr>
                <a:schemeClr val="lt1"/>
              </a:buClr>
              <a:buSzPts val="2000"/>
              <a:buNone/>
            </a:pPr>
            <a:r>
              <a:rPr lang="en-US" sz="2000" dirty="0"/>
              <a:t>6.Improper assertions – use the correct assertions</a:t>
            </a:r>
          </a:p>
          <a:p>
            <a:pPr marL="0" lvl="0" indent="0" algn="l" rtl="0">
              <a:lnSpc>
                <a:spcPct val="90000"/>
              </a:lnSpc>
              <a:spcBef>
                <a:spcPts val="0"/>
              </a:spcBef>
              <a:spcAft>
                <a:spcPts val="0"/>
              </a:spcAft>
              <a:buClr>
                <a:schemeClr val="lt1"/>
              </a:buClr>
              <a:buSzPts val="2000"/>
              <a:buNone/>
            </a:pPr>
            <a:r>
              <a:rPr lang="en-US" sz="2000" dirty="0"/>
              <a:t>7.Robust exception handling – catch exceptions properly</a:t>
            </a:r>
          </a:p>
          <a:p>
            <a:pPr marL="0" lvl="0" indent="0" algn="l" rtl="0">
              <a:lnSpc>
                <a:spcPct val="90000"/>
              </a:lnSpc>
              <a:spcBef>
                <a:spcPts val="0"/>
              </a:spcBef>
              <a:spcAft>
                <a:spcPts val="0"/>
              </a:spcAft>
              <a:buClr>
                <a:schemeClr val="lt1"/>
              </a:buClr>
              <a:buSzPts val="2000"/>
              <a:buNone/>
            </a:pPr>
            <a:r>
              <a:rPr lang="en-US" sz="2000" dirty="0"/>
              <a:t>8.Variable shadowing – must be avoided</a:t>
            </a:r>
          </a:p>
          <a:p>
            <a:pPr marL="0" lvl="0" indent="0" algn="l" rtl="0">
              <a:lnSpc>
                <a:spcPct val="90000"/>
              </a:lnSpc>
              <a:spcBef>
                <a:spcPts val="0"/>
              </a:spcBef>
              <a:spcAft>
                <a:spcPts val="0"/>
              </a:spcAft>
              <a:buClr>
                <a:schemeClr val="lt1"/>
              </a:buClr>
              <a:buSzPts val="2000"/>
              <a:buNone/>
            </a:pPr>
            <a:r>
              <a:rPr lang="en-US" sz="2000" dirty="0"/>
              <a:t>9.Proper resource management -  all files must be properly closed</a:t>
            </a:r>
          </a:p>
          <a:p>
            <a:pPr marL="0" lvl="0" indent="0" algn="l" rtl="0">
              <a:lnSpc>
                <a:spcPct val="90000"/>
              </a:lnSpc>
              <a:spcBef>
                <a:spcPts val="0"/>
              </a:spcBef>
              <a:spcAft>
                <a:spcPts val="0"/>
              </a:spcAft>
              <a:buClr>
                <a:schemeClr val="lt1"/>
              </a:buClr>
              <a:buSzPts val="2000"/>
              <a:buNone/>
            </a:pPr>
            <a:r>
              <a:rPr lang="en-US" sz="2000" dirty="0"/>
              <a:t>10.Single responsibility code – separate functionality</a:t>
            </a:r>
          </a:p>
          <a:p>
            <a:pPr marL="0" lvl="0" indent="0" algn="l" rtl="0">
              <a:lnSpc>
                <a:spcPct val="90000"/>
              </a:lnSpc>
              <a:spcBef>
                <a:spcPts val="0"/>
              </a:spcBef>
              <a:spcAft>
                <a:spcPts val="0"/>
              </a:spcAft>
              <a:buClr>
                <a:schemeClr val="lt1"/>
              </a:buClr>
              <a:buSzPts val="2000"/>
              <a:buNone/>
            </a:pPr>
            <a:r>
              <a:rPr lang="en-US" sz="2000" dirty="0"/>
              <a:t> </a:t>
            </a:r>
          </a:p>
          <a:p>
            <a:pPr marL="0" lvl="0" indent="0" algn="l" rtl="0">
              <a:lnSpc>
                <a:spcPct val="90000"/>
              </a:lnSpc>
              <a:spcBef>
                <a:spcPts val="0"/>
              </a:spcBef>
              <a:spcAft>
                <a:spcPts val="0"/>
              </a:spcAft>
              <a:buClr>
                <a:schemeClr val="lt1"/>
              </a:buClr>
              <a:buSzPts val="2000"/>
              <a:buNone/>
            </a:pPr>
            <a:r>
              <a:rPr lang="en-US" sz="2000" dirty="0"/>
              <a:t> </a:t>
            </a:r>
          </a:p>
          <a:p>
            <a:pPr marL="0" lvl="0" indent="0" algn="l" rtl="0">
              <a:lnSpc>
                <a:spcPct val="90000"/>
              </a:lnSpc>
              <a:spcBef>
                <a:spcPts val="0"/>
              </a:spcBef>
              <a:spcAft>
                <a:spcPts val="0"/>
              </a:spcAft>
              <a:buClr>
                <a:schemeClr val="lt1"/>
              </a:buClr>
              <a:buSzPts val="2000"/>
              <a:buNone/>
            </a:pPr>
            <a:r>
              <a:rPr lang="en-US" sz="2000" dirty="0">
                <a:solidFill>
                  <a:srgbClr val="000000"/>
                </a:solidFill>
                <a:effectLst/>
                <a:latin typeface="Times New Roman" panose="02020603050405020304" pitchFamily="18" charset="0"/>
                <a:ea typeface="Calibri" panose="020F0502020204030204" pitchFamily="34" charset="0"/>
              </a:rPr>
              <a:t>Range </a:t>
            </a:r>
            <a:r>
              <a:rPr lang="en-US" sz="1800" dirty="0">
                <a:solidFill>
                  <a:srgbClr val="000000"/>
                </a:solidFill>
                <a:effectLst/>
                <a:latin typeface="Times New Roman" panose="02020603050405020304" pitchFamily="18" charset="0"/>
                <a:ea typeface="Calibri" panose="020F0502020204030204" pitchFamily="34" charset="0"/>
              </a:rPr>
              <a:t>ne definition rule(ODR). Prevents unintentional data truncation, overflow, and ambiguity that can lead to bugs or security vulnerabilities</a:t>
            </a:r>
            <a:r>
              <a:rPr lang="en-US" dirty="0">
                <a:effectLst/>
              </a:rPr>
              <a:t> </a:t>
            </a:r>
            <a:r>
              <a:rPr lang="en-US" sz="1800" dirty="0">
                <a:solidFill>
                  <a:srgbClr val="000000"/>
                </a:solidFill>
                <a:effectLst/>
                <a:latin typeface="Times New Roman" panose="02020603050405020304" pitchFamily="18" charset="0"/>
                <a:ea typeface="Calibri" panose="020F0502020204030204" pitchFamily="34" charset="0"/>
              </a:rPr>
              <a:t>One definition rule(ODR). Prevents unintentional data truncation, overflow, and ambiguity that can lead to bugs or security vulnerabilities</a:t>
            </a:r>
            <a:r>
              <a:rPr lang="en-US" dirty="0">
                <a:effectLst/>
              </a:rPr>
              <a:t> 8.8.</a:t>
            </a:r>
            <a:endParaRPr lang="en-US" dirty="0"/>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000"/>
              <a:buNone/>
            </a:pPr>
            <a:r>
              <a:rPr lang="en-US" sz="2000" dirty="0"/>
              <a:t>We will now speak about the three encryption policies:</a:t>
            </a:r>
          </a:p>
          <a:p>
            <a:pPr marL="228600" lvl="0" indent="-228600" algn="l" rtl="0">
              <a:lnSpc>
                <a:spcPct val="90000"/>
              </a:lnSpc>
              <a:spcBef>
                <a:spcPts val="0"/>
              </a:spcBef>
              <a:spcAft>
                <a:spcPts val="0"/>
              </a:spcAft>
              <a:buClr>
                <a:schemeClr val="lt1"/>
              </a:buClr>
              <a:buSzPts val="2000"/>
              <a:buChar char="•"/>
            </a:pPr>
            <a:r>
              <a:rPr lang="en-US" sz="2000" dirty="0"/>
              <a:t>Encryption at rest protects data that is stored on a device. This includes smartphones, and hard drive. Authorized users and applications easily decrypt data immediately when access is required , given that correct encryption key is produce. This policy applies because it is a foundational part of defense in depth and enforce regulatory compliance.</a:t>
            </a:r>
          </a:p>
          <a:p>
            <a:pPr marL="228600" lvl="0" indent="-228600" algn="l" rtl="0">
              <a:lnSpc>
                <a:spcPct val="90000"/>
              </a:lnSpc>
              <a:spcBef>
                <a:spcPts val="0"/>
              </a:spcBef>
              <a:spcAft>
                <a:spcPts val="0"/>
              </a:spcAft>
              <a:buClr>
                <a:schemeClr val="lt1"/>
              </a:buClr>
              <a:buSzPts val="2000"/>
              <a:buChar char="•"/>
            </a:pPr>
            <a:r>
              <a:rPr lang="en-US" sz="2000" dirty="0"/>
              <a:t>Encryption in flight, protects data that is moving. This ca be between clients, services, and network. It is designed to prevent spying, tampering and message forgery on client server links. The policy applies because it ensures that the data that is received is what was sent, compliance with privacy regulations and prevents man in the middle.</a:t>
            </a:r>
          </a:p>
          <a:p>
            <a:pPr marL="228600" lvl="0" indent="-228600" algn="l" rtl="0">
              <a:lnSpc>
                <a:spcPct val="90000"/>
              </a:lnSpc>
              <a:spcBef>
                <a:spcPts val="0"/>
              </a:spcBef>
              <a:spcAft>
                <a:spcPts val="0"/>
              </a:spcAft>
              <a:buClr>
                <a:schemeClr val="lt1"/>
              </a:buClr>
              <a:buSzPts val="2000"/>
              <a:buChar char="•"/>
            </a:pPr>
            <a:r>
              <a:rPr lang="en-US" sz="2000" dirty="0"/>
              <a:t>Encryption in use, protects data that is actively being processed by a computer system. It applies by enforcing confidentiality. It stops threats by preventing them from stealing useable information from active memory </a:t>
            </a:r>
            <a:endParaRPr sz="1600" dirty="0"/>
          </a:p>
          <a:p>
            <a:pPr marL="0" lvl="0" indent="0" algn="l" rtl="0">
              <a:lnSpc>
                <a:spcPct val="90000"/>
              </a:lnSpc>
              <a:spcBef>
                <a:spcPts val="1000"/>
              </a:spcBef>
              <a:spcAft>
                <a:spcPts val="0"/>
              </a:spcAft>
              <a:buClr>
                <a:schemeClr val="lt1"/>
              </a:buClr>
              <a:buSzPts val="1600"/>
              <a:buNone/>
            </a:pPr>
            <a:endParaRPr sz="16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92500"/>
          </a:bodyPr>
          <a:lstStyle/>
          <a:p>
            <a:pPr marL="0" lvl="0" indent="0" algn="l" rtl="0">
              <a:lnSpc>
                <a:spcPct val="90000"/>
              </a:lnSpc>
              <a:spcBef>
                <a:spcPts val="0"/>
              </a:spcBef>
              <a:spcAft>
                <a:spcPts val="0"/>
              </a:spcAft>
              <a:buClr>
                <a:schemeClr val="lt1"/>
              </a:buClr>
              <a:buSzPts val="2400"/>
              <a:buNone/>
            </a:pPr>
            <a:r>
              <a:rPr lang="en-US" sz="2400" dirty="0"/>
              <a:t>Policies that support authentication, authorization, and accounting will now be explained.</a:t>
            </a:r>
          </a:p>
          <a:p>
            <a:pPr marL="0" lvl="0" indent="0" algn="l" rtl="0">
              <a:lnSpc>
                <a:spcPct val="90000"/>
              </a:lnSpc>
              <a:spcBef>
                <a:spcPts val="0"/>
              </a:spcBef>
              <a:spcAft>
                <a:spcPts val="0"/>
              </a:spcAft>
              <a:buClr>
                <a:schemeClr val="lt1"/>
              </a:buClr>
              <a:buSzPts val="2400"/>
              <a:buNone/>
            </a:pPr>
            <a:endParaRPr lang="en-US" sz="2400" dirty="0"/>
          </a:p>
          <a:p>
            <a:pPr marL="0" lvl="0" indent="0" algn="l" rtl="0">
              <a:lnSpc>
                <a:spcPct val="90000"/>
              </a:lnSpc>
              <a:spcBef>
                <a:spcPts val="0"/>
              </a:spcBef>
              <a:spcAft>
                <a:spcPts val="0"/>
              </a:spcAft>
              <a:buClr>
                <a:schemeClr val="lt1"/>
              </a:buClr>
              <a:buSzPts val="2400"/>
              <a:buNone/>
            </a:pPr>
            <a:r>
              <a:rPr lang="en-US" sz="2400" dirty="0"/>
              <a:t>Authentication - verifies the user’s identity by use of phishing resistant Multi-Factor-Authentication(MFA). It stops hackers from getting access to the network by limiting access. A user logs in their VPN using their username and MFA token. </a:t>
            </a:r>
          </a:p>
          <a:p>
            <a:pPr marL="0" lvl="0" indent="0" algn="l" rtl="0">
              <a:lnSpc>
                <a:spcPct val="90000"/>
              </a:lnSpc>
              <a:spcBef>
                <a:spcPts val="0"/>
              </a:spcBef>
              <a:spcAft>
                <a:spcPts val="0"/>
              </a:spcAft>
              <a:buClr>
                <a:schemeClr val="lt1"/>
              </a:buClr>
              <a:buSzPts val="2400"/>
              <a:buNone/>
            </a:pPr>
            <a:endParaRPr lang="en-US" sz="2400" dirty="0"/>
          </a:p>
          <a:p>
            <a:pPr marL="0" lvl="0" indent="0" algn="l" rtl="0">
              <a:lnSpc>
                <a:spcPct val="90000"/>
              </a:lnSpc>
              <a:spcBef>
                <a:spcPts val="0"/>
              </a:spcBef>
              <a:spcAft>
                <a:spcPts val="0"/>
              </a:spcAft>
              <a:buClr>
                <a:schemeClr val="lt1"/>
              </a:buClr>
              <a:buSzPts val="2400"/>
              <a:buNone/>
            </a:pPr>
            <a:r>
              <a:rPr lang="en-US" sz="2400" dirty="0"/>
              <a:t>Authorization – dictates what resources an authenticated user has access to view or modify.  A least privilege approach is required by best practices</a:t>
            </a:r>
          </a:p>
          <a:p>
            <a:pPr marL="0" lvl="0" indent="0" algn="l" rtl="0">
              <a:lnSpc>
                <a:spcPct val="90000"/>
              </a:lnSpc>
              <a:spcBef>
                <a:spcPts val="0"/>
              </a:spcBef>
              <a:spcAft>
                <a:spcPts val="0"/>
              </a:spcAft>
              <a:buClr>
                <a:schemeClr val="lt1"/>
              </a:buClr>
              <a:buSzPts val="2400"/>
              <a:buNone/>
            </a:pPr>
            <a:endParaRPr lang="en-US" sz="2400" dirty="0"/>
          </a:p>
          <a:p>
            <a:pPr marL="0" lvl="0" indent="0" algn="l" rtl="0">
              <a:lnSpc>
                <a:spcPct val="90000"/>
              </a:lnSpc>
              <a:spcBef>
                <a:spcPts val="0"/>
              </a:spcBef>
              <a:spcAft>
                <a:spcPts val="0"/>
              </a:spcAft>
              <a:buClr>
                <a:schemeClr val="lt1"/>
              </a:buClr>
              <a:buSzPts val="2400"/>
              <a:buNone/>
            </a:pPr>
            <a:r>
              <a:rPr lang="en-US" sz="2400" dirty="0"/>
              <a:t>Accounting – tracks and logs user activity and system changes. Abnormal behaviors will be caught by continuous monitoring and detailed auditing. </a:t>
            </a:r>
          </a:p>
          <a:p>
            <a:pPr marL="0" lvl="0" indent="0" algn="l" rtl="0">
              <a:lnSpc>
                <a:spcPct val="90000"/>
              </a:lnSpc>
              <a:spcBef>
                <a:spcPts val="0"/>
              </a:spcBef>
              <a:spcAft>
                <a:spcPts val="0"/>
              </a:spcAft>
              <a:buClr>
                <a:schemeClr val="lt1"/>
              </a:buClr>
              <a:buSzPts val="2400"/>
              <a:buNone/>
            </a:pPr>
            <a:endParaRPr dirty="0"/>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p:cNvSpPr txBox="1">
            <a:spLocks noGrp="1"/>
          </p:cNvSpPr>
          <p:nvPr>
            <p:ph type="body" idx="1"/>
          </p:nvPr>
        </p:nvSpPr>
        <p:spPr>
          <a:xfrm>
            <a:off x="1" y="2330244"/>
            <a:ext cx="11299722" cy="5132439"/>
          </a:xfrm>
          <a:prstGeom prst="rect">
            <a:avLst/>
          </a:prstGeom>
          <a:noFill/>
          <a:ln>
            <a:noFill/>
          </a:ln>
        </p:spPr>
        <p:txBody>
          <a:bodyPr spcFirstLastPara="1" wrap="square" lIns="91425" tIns="45700" rIns="91425" bIns="45700" anchor="t" anchorCtr="0">
            <a:noAutofit/>
          </a:bodyPr>
          <a:lstStyle/>
          <a:p>
            <a:pPr marL="0" marR="0" indent="0">
              <a:lnSpc>
                <a:spcPct val="200000"/>
              </a:lnSpc>
              <a:spcBef>
                <a:spcPts val="0"/>
              </a:spcBef>
              <a:spcAft>
                <a:spcPts val="0"/>
              </a:spcAft>
              <a:buNone/>
            </a:pPr>
            <a:r>
              <a:rPr lang="en-US" dirty="0"/>
              <a:t>Unit testing is a software testing method used to verify the functionality of individual components or modules of a program. It ensures that each unit performs correctly in isolation before integration into the complete system.</a:t>
            </a:r>
          </a:p>
          <a:p>
            <a:pPr marL="0" marR="0" indent="0">
              <a:lnSpc>
                <a:spcPct val="200000"/>
              </a:lnSpc>
              <a:spcBef>
                <a:spcPts val="0"/>
              </a:spcBef>
              <a:spcAft>
                <a:spcPts val="0"/>
              </a:spcAft>
              <a:buNone/>
            </a:pPr>
            <a:r>
              <a:rPr lang="en-US" dirty="0"/>
              <a:t> I created a full range of positive and negative tests The output showed  a successful C++unit test ran. My </a:t>
            </a:r>
            <a:r>
              <a:rPr lang="en-US" dirty="0" err="1"/>
              <a:t>CollectionTest</a:t>
            </a:r>
            <a:r>
              <a:rPr lang="en-US" dirty="0"/>
              <a:t> suite executed 15 tests and passed all of them. This means that my custom collection or vector implementation is working exactly as intended without any errors.</a:t>
            </a:r>
          </a:p>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a:t>
            </a:r>
            <a:endParaRPr dirty="0"/>
          </a:p>
        </p:txBody>
      </p:sp>
      <p:sp>
        <p:nvSpPr>
          <p:cNvPr id="196" name="Google Shape;196;g9504e29505_0_0"/>
          <p:cNvSpPr txBox="1">
            <a:spLocks noGrp="1"/>
          </p:cNvSpPr>
          <p:nvPr>
            <p:ph type="body" idx="1"/>
          </p:nvPr>
        </p:nvSpPr>
        <p:spPr>
          <a:xfrm>
            <a:off x="1" y="2330244"/>
            <a:ext cx="11299722" cy="51324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endParaRPr lang="en-US" dirty="0"/>
          </a:p>
          <a:p>
            <a:pPr marL="0" indent="0">
              <a:buNone/>
            </a:pPr>
            <a:r>
              <a:rPr lang="en-US" dirty="0"/>
              <a:t>A quick breakdown of the results:</a:t>
            </a:r>
          </a:p>
          <a:p>
            <a:pPr marL="0" indent="0">
              <a:buNone/>
            </a:pPr>
            <a:r>
              <a:rPr lang="en-US" dirty="0"/>
              <a:t>Total Tests: 15</a:t>
            </a:r>
          </a:p>
          <a:p>
            <a:pPr marL="0" indent="0">
              <a:buNone/>
            </a:pPr>
            <a:r>
              <a:rPr lang="en-US" dirty="0"/>
              <a:t>Passed: 15</a:t>
            </a:r>
          </a:p>
          <a:p>
            <a:pPr marL="0" indent="0">
              <a:buNone/>
            </a:pPr>
            <a:r>
              <a:rPr lang="en-US" dirty="0"/>
              <a:t>Failed: 0</a:t>
            </a:r>
          </a:p>
          <a:p>
            <a:pPr marL="0" indent="0">
              <a:buNone/>
            </a:pPr>
            <a:r>
              <a:rPr lang="en-US" dirty="0"/>
              <a:t>Total Time: 0 </a:t>
            </a:r>
            <a:r>
              <a:rPr lang="en-US" dirty="0" err="1"/>
              <a:t>ms</a:t>
            </a:r>
            <a:r>
              <a:rPr lang="en-US" dirty="0"/>
              <a:t> (executed instantly)</a:t>
            </a:r>
          </a:p>
          <a:p>
            <a:pPr marL="0" indent="0">
              <a:buNone/>
            </a:pPr>
            <a:r>
              <a:rPr lang="en-US" dirty="0"/>
              <a:t>Tested Features: Basic initialization, adding/erasing items, vector resizing, capacity tracking, and out-of-range safety check </a:t>
            </a: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extLst>
      <p:ext uri="{BB962C8B-B14F-4D97-AF65-F5344CB8AC3E}">
        <p14:creationId xmlns:p14="http://schemas.microsoft.com/office/powerpoint/2010/main" val="4091092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a:t>
            </a:r>
            <a:endParaRPr dirty="0"/>
          </a:p>
        </p:txBody>
      </p:sp>
      <p:sp>
        <p:nvSpPr>
          <p:cNvPr id="196" name="Google Shape;196;g9504e29505_0_0"/>
          <p:cNvSpPr txBox="1">
            <a:spLocks noGrp="1"/>
          </p:cNvSpPr>
          <p:nvPr>
            <p:ph type="body" idx="1"/>
          </p:nvPr>
        </p:nvSpPr>
        <p:spPr>
          <a:xfrm>
            <a:off x="0" y="2234408"/>
            <a:ext cx="11299722" cy="51324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r>
              <a:rPr lang="en-US" dirty="0"/>
              <a:t>l</a:t>
            </a: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2" name="Picture 1" descr="A screenshot of a computer program&#10;&#10;Description automatically generated">
            <a:extLst>
              <a:ext uri="{FF2B5EF4-FFF2-40B4-BE49-F238E27FC236}">
                <a16:creationId xmlns:a16="http://schemas.microsoft.com/office/drawing/2014/main" id="{526D88F8-D8AC-FB42-DB4B-6AC8668B0DEE}"/>
              </a:ext>
            </a:extLst>
          </p:cNvPr>
          <p:cNvPicPr>
            <a:picLocks noChangeAspect="1"/>
          </p:cNvPicPr>
          <p:nvPr/>
        </p:nvPicPr>
        <p:blipFill>
          <a:blip r:embed="rId5"/>
          <a:stretch>
            <a:fillRect/>
          </a:stretch>
        </p:blipFill>
        <p:spPr>
          <a:xfrm>
            <a:off x="3124200" y="1751647"/>
            <a:ext cx="4743688" cy="3354705"/>
          </a:xfrm>
          <a:prstGeom prst="rect">
            <a:avLst/>
          </a:prstGeom>
        </p:spPr>
      </p:pic>
      <p:pic>
        <p:nvPicPr>
          <p:cNvPr id="7" name="Picture 6" descr="A screenshot of a computer program&#10;&#10;Description automatically generated">
            <a:extLst>
              <a:ext uri="{FF2B5EF4-FFF2-40B4-BE49-F238E27FC236}">
                <a16:creationId xmlns:a16="http://schemas.microsoft.com/office/drawing/2014/main" id="{DC113138-477F-3907-4B59-CEA6E53510F8}"/>
              </a:ext>
            </a:extLst>
          </p:cNvPr>
          <p:cNvPicPr>
            <a:picLocks noChangeAspect="1"/>
          </p:cNvPicPr>
          <p:nvPr/>
        </p:nvPicPr>
        <p:blipFill>
          <a:blip r:embed="rId5"/>
          <a:stretch>
            <a:fillRect/>
          </a:stretch>
        </p:blipFill>
        <p:spPr>
          <a:xfrm>
            <a:off x="3276600" y="1904047"/>
            <a:ext cx="4743688" cy="3354705"/>
          </a:xfrm>
          <a:prstGeom prst="rect">
            <a:avLst/>
          </a:prstGeom>
        </p:spPr>
      </p:pic>
    </p:spTree>
    <p:custDataLst>
      <p:tags r:id="rId1"/>
    </p:custDataLst>
    <p:extLst>
      <p:ext uri="{BB962C8B-B14F-4D97-AF65-F5344CB8AC3E}">
        <p14:creationId xmlns:p14="http://schemas.microsoft.com/office/powerpoint/2010/main" val="2737744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4" name="Text Placeholder 3">
            <a:extLst>
              <a:ext uri="{FF2B5EF4-FFF2-40B4-BE49-F238E27FC236}">
                <a16:creationId xmlns:a16="http://schemas.microsoft.com/office/drawing/2014/main" id="{37E1F112-7554-0752-1DC3-FE69E9FB184B}"/>
              </a:ext>
            </a:extLst>
          </p:cNvPr>
          <p:cNvSpPr>
            <a:spLocks noGrp="1"/>
          </p:cNvSpPr>
          <p:nvPr>
            <p:ph type="body" idx="1"/>
          </p:nvPr>
        </p:nvSpPr>
        <p:spPr/>
        <p:txBody>
          <a:bodyPr>
            <a:normAutofit fontScale="92500" lnSpcReduction="10000"/>
          </a:bodyPr>
          <a:lstStyle/>
          <a:p>
            <a:pPr marL="114300" indent="0">
              <a:buNone/>
            </a:pPr>
            <a:r>
              <a:rPr lang="en-US" dirty="0" err="1"/>
              <a:t>DevSecOps</a:t>
            </a:r>
            <a:r>
              <a:rPr lang="en-US" dirty="0"/>
              <a:t> pipeline is a method used to enforce code security by building and writing efficient code in a full circle. To enforce </a:t>
            </a:r>
            <a:r>
              <a:rPr lang="en-US" dirty="0" err="1"/>
              <a:t>DevSecOps</a:t>
            </a:r>
            <a:r>
              <a:rPr lang="en-US" dirty="0"/>
              <a:t> we can use several external tools. These include monitoring services(log rocket). We could also add automated tools such as integration testing to ensure that we are meeting the standards and best practices.</a:t>
            </a:r>
          </a:p>
          <a:p>
            <a:pPr marL="114300" indent="0">
              <a:buNone/>
            </a:pPr>
            <a:r>
              <a:rPr lang="en-US" dirty="0"/>
              <a:t>DevOps becomes </a:t>
            </a:r>
            <a:r>
              <a:rPr lang="en-US" dirty="0" err="1"/>
              <a:t>DevSecOps</a:t>
            </a:r>
            <a:r>
              <a:rPr lang="en-US" dirty="0"/>
              <a:t> after the security measure of each step of the DevOps toolchain is combined. Threat modelling is addressed in the Access and Plan phase, while IDE security is managed during the Design and Build phase. The verify and test phase has automated security scans and static code analysis, expanding the testing suite beyond unit and integration testing.</a:t>
            </a:r>
          </a:p>
          <a:p>
            <a:pPr marL="114300" indent="0">
              <a:buNone/>
            </a:pPr>
            <a:r>
              <a:rPr lang="en-US" dirty="0"/>
              <a:t>After deployment, automated pipelines keep the integrity of the system and defense in depth to prevent vulnerabilities. Constant threat detection relies on performance logs, network monitoring, and ongoing penetration testing.  Security practices such as  standard QA, needs to be  in place early and often in the development process.</a:t>
            </a:r>
          </a:p>
          <a:p>
            <a:pPr marL="114300" indent="0">
              <a:buNone/>
            </a:pPr>
            <a:endParaRPr lang="en-US" dirty="0"/>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000"/>
              <a:buNone/>
            </a:pPr>
            <a:endParaRPr lang="en-US" sz="2000" dirty="0"/>
          </a:p>
          <a:p>
            <a:pPr marL="0" lvl="0" indent="0" algn="l" rtl="0">
              <a:lnSpc>
                <a:spcPct val="90000"/>
              </a:lnSpc>
              <a:spcBef>
                <a:spcPts val="0"/>
              </a:spcBef>
              <a:spcAft>
                <a:spcPts val="0"/>
              </a:spcAft>
              <a:buClr>
                <a:schemeClr val="lt1"/>
              </a:buClr>
              <a:buSzPts val="2000"/>
              <a:buNone/>
            </a:pPr>
            <a:endParaRPr lang="en-US" sz="2000" dirty="0"/>
          </a:p>
          <a:p>
            <a:pPr marL="0" lvl="0" indent="0" algn="l" rtl="0">
              <a:lnSpc>
                <a:spcPct val="90000"/>
              </a:lnSpc>
              <a:spcBef>
                <a:spcPts val="0"/>
              </a:spcBef>
              <a:spcAft>
                <a:spcPts val="0"/>
              </a:spcAft>
              <a:buClr>
                <a:schemeClr val="lt1"/>
              </a:buClr>
              <a:buSzPts val="2000"/>
              <a:buNone/>
            </a:pPr>
            <a:r>
              <a:rPr lang="en-US" sz="2000" dirty="0"/>
              <a:t>When working with software and systems there are always risk. A lot of the risk can be reduced by following the standard  procedures, implementing Defense In Depth, Triple A and best practices. These reduce the risk of security threats immensely.</a:t>
            </a:r>
          </a:p>
          <a:p>
            <a:pPr marL="0" lvl="0" indent="0" algn="l" rtl="0">
              <a:lnSpc>
                <a:spcPct val="90000"/>
              </a:lnSpc>
              <a:spcBef>
                <a:spcPts val="0"/>
              </a:spcBef>
              <a:spcAft>
                <a:spcPts val="0"/>
              </a:spcAft>
              <a:buClr>
                <a:schemeClr val="lt1"/>
              </a:buClr>
              <a:buSzPts val="2000"/>
              <a:buNone/>
            </a:pPr>
            <a:endParaRPr lang="en-US" sz="2000" dirty="0"/>
          </a:p>
          <a:p>
            <a:pPr marL="0" lvl="0" indent="0" algn="l" rtl="0">
              <a:lnSpc>
                <a:spcPct val="90000"/>
              </a:lnSpc>
              <a:spcBef>
                <a:spcPts val="0"/>
              </a:spcBef>
              <a:spcAft>
                <a:spcPts val="0"/>
              </a:spcAft>
              <a:buClr>
                <a:schemeClr val="lt1"/>
              </a:buClr>
              <a:buSzPts val="2000"/>
              <a:buNone/>
            </a:pPr>
            <a:r>
              <a:rPr lang="en-US" sz="2000" dirty="0"/>
              <a:t>A benefit </a:t>
            </a:r>
            <a:r>
              <a:rPr lang="en-US" sz="2000" dirty="0" err="1"/>
              <a:t>iis</a:t>
            </a:r>
            <a:r>
              <a:rPr lang="en-US" sz="2000" dirty="0"/>
              <a:t>, “Don’t </a:t>
            </a:r>
            <a:r>
              <a:rPr lang="en-US" sz="2000" dirty="0" err="1"/>
              <a:t>lleave</a:t>
            </a:r>
            <a:r>
              <a:rPr lang="en-US" sz="2000" dirty="0"/>
              <a:t> security to the end ” means integrating security throughout the Software Development Life Cycle(SDLC). Security experts should be involved in every phase of the architecture and design process. We should never treat security as a final checklist-item, this will lead to hackers having access to the software which will be disastrous for companies(</a:t>
            </a:r>
            <a:r>
              <a:rPr lang="en-US" sz="2000" dirty="0" err="1"/>
              <a:t>Ryther.J</a:t>
            </a:r>
            <a:r>
              <a:rPr lang="en-US" sz="2000" dirty="0"/>
              <a:t>).</a:t>
            </a:r>
          </a:p>
          <a:p>
            <a:pPr marL="0" lvl="0" indent="0" algn="l" rtl="0">
              <a:lnSpc>
                <a:spcPct val="90000"/>
              </a:lnSpc>
              <a:spcBef>
                <a:spcPts val="0"/>
              </a:spcBef>
              <a:spcAft>
                <a:spcPts val="0"/>
              </a:spcAft>
              <a:buClr>
                <a:schemeClr val="lt1"/>
              </a:buClr>
              <a:buSzPts val="2000"/>
              <a:buNone/>
            </a:pPr>
            <a:endParaRPr lang="en-US" sz="2000" dirty="0"/>
          </a:p>
          <a:p>
            <a:pPr marL="0" lvl="0" indent="0" algn="l" rtl="0">
              <a:lnSpc>
                <a:spcPct val="90000"/>
              </a:lnSpc>
              <a:spcBef>
                <a:spcPts val="0"/>
              </a:spcBef>
              <a:spcAft>
                <a:spcPts val="0"/>
              </a:spcAft>
              <a:buClr>
                <a:schemeClr val="lt1"/>
              </a:buClr>
              <a:buSzPts val="2000"/>
              <a:buNone/>
            </a:pPr>
            <a:r>
              <a:rPr lang="en-US" sz="2000" dirty="0"/>
              <a:t> </a:t>
            </a:r>
            <a:endParaRPr dirty="0"/>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47500" lnSpcReduction="20000"/>
          </a:bodyPr>
          <a:lstStyle/>
          <a:p>
            <a:pPr marL="914400" lvl="2" indent="0" algn="l" rtl="0">
              <a:lnSpc>
                <a:spcPct val="90000"/>
              </a:lnSpc>
              <a:spcBef>
                <a:spcPts val="0"/>
              </a:spcBef>
              <a:spcAft>
                <a:spcPts val="0"/>
              </a:spcAft>
              <a:buClr>
                <a:schemeClr val="lt1"/>
              </a:buClr>
              <a:buSzPts val="1800"/>
              <a:buNone/>
            </a:pPr>
            <a:endParaRPr lang="en-US" sz="1400" dirty="0"/>
          </a:p>
          <a:p>
            <a:pPr marL="914400" lvl="2" indent="0" algn="l" rtl="0">
              <a:lnSpc>
                <a:spcPct val="90000"/>
              </a:lnSpc>
              <a:spcBef>
                <a:spcPts val="0"/>
              </a:spcBef>
              <a:spcAft>
                <a:spcPts val="0"/>
              </a:spcAft>
              <a:buClr>
                <a:schemeClr val="lt1"/>
              </a:buClr>
              <a:buSzPts val="1800"/>
              <a:buNone/>
            </a:pPr>
            <a:r>
              <a:rPr lang="en-US" sz="3500" dirty="0"/>
              <a:t>I recommend encryption of data when necessary, applying  the Principle of Least Privilege, scan for software vulnerabilities frequently and keeping  dependencies up to date to fix all the gaps in the security policy.</a:t>
            </a:r>
          </a:p>
          <a:p>
            <a:pPr marL="914400" lvl="2" indent="0" algn="l" rtl="0">
              <a:lnSpc>
                <a:spcPct val="90000"/>
              </a:lnSpc>
              <a:spcBef>
                <a:spcPts val="0"/>
              </a:spcBef>
              <a:spcAft>
                <a:spcPts val="0"/>
              </a:spcAft>
              <a:buClr>
                <a:schemeClr val="lt1"/>
              </a:buClr>
              <a:buSzPts val="1800"/>
              <a:buNone/>
            </a:pPr>
            <a:endParaRPr lang="en-US" sz="3500" dirty="0"/>
          </a:p>
          <a:p>
            <a:pPr marL="914400" lvl="2" indent="0" algn="l" rtl="0">
              <a:lnSpc>
                <a:spcPct val="90000"/>
              </a:lnSpc>
              <a:spcBef>
                <a:spcPts val="0"/>
              </a:spcBef>
              <a:spcAft>
                <a:spcPts val="0"/>
              </a:spcAft>
              <a:buClr>
                <a:schemeClr val="lt1"/>
              </a:buClr>
              <a:buSzPts val="1800"/>
              <a:buNone/>
            </a:pPr>
            <a:r>
              <a:rPr lang="en-US" sz="3500" dirty="0"/>
              <a:t>I plan to ensure that security is addressed intrinsically and not </a:t>
            </a:r>
            <a:r>
              <a:rPr lang="en-US" sz="3500" dirty="0" err="1"/>
              <a:t>lefave</a:t>
            </a:r>
            <a:r>
              <a:rPr lang="en-US" sz="3500" dirty="0"/>
              <a:t> it until an issue is discovered in my project by implementing  the use of integration testing. </a:t>
            </a:r>
          </a:p>
          <a:p>
            <a:pPr marL="914400" lvl="2" indent="0" algn="l" rtl="0">
              <a:lnSpc>
                <a:spcPct val="90000"/>
              </a:lnSpc>
              <a:spcBef>
                <a:spcPts val="0"/>
              </a:spcBef>
              <a:spcAft>
                <a:spcPts val="0"/>
              </a:spcAft>
              <a:buClr>
                <a:schemeClr val="lt1"/>
              </a:buClr>
              <a:buSzPts val="1800"/>
              <a:buNone/>
            </a:pPr>
            <a:endParaRPr lang="en-US" sz="3500" dirty="0"/>
          </a:p>
          <a:p>
            <a:pPr marL="914400" lvl="2" indent="0" algn="l" rtl="0">
              <a:lnSpc>
                <a:spcPct val="90000"/>
              </a:lnSpc>
              <a:spcBef>
                <a:spcPts val="0"/>
              </a:spcBef>
              <a:spcAft>
                <a:spcPts val="0"/>
              </a:spcAft>
              <a:buClr>
                <a:schemeClr val="lt1"/>
              </a:buClr>
              <a:buSzPts val="1800"/>
              <a:buNone/>
            </a:pPr>
            <a:r>
              <a:rPr lang="en-US" sz="3500" dirty="0"/>
              <a:t>Integration testing is the process in which the interface of different applications, modules or components of a software application are tested as a combined group. This testing shows the testing team how well diverse elements work together.</a:t>
            </a:r>
          </a:p>
          <a:p>
            <a:pPr marL="914400" lvl="2" indent="0" algn="l" rtl="0">
              <a:lnSpc>
                <a:spcPct val="90000"/>
              </a:lnSpc>
              <a:spcBef>
                <a:spcPts val="0"/>
              </a:spcBef>
              <a:spcAft>
                <a:spcPts val="0"/>
              </a:spcAft>
              <a:buClr>
                <a:schemeClr val="lt1"/>
              </a:buClr>
              <a:buSzPts val="1800"/>
              <a:buNone/>
            </a:pPr>
            <a:endParaRPr lang="en-US" sz="3500" dirty="0"/>
          </a:p>
          <a:p>
            <a:pPr marL="914400" lvl="2" indent="0" algn="l" rtl="0">
              <a:lnSpc>
                <a:spcPct val="90000"/>
              </a:lnSpc>
              <a:spcBef>
                <a:spcPts val="0"/>
              </a:spcBef>
              <a:spcAft>
                <a:spcPts val="0"/>
              </a:spcAft>
              <a:buClr>
                <a:schemeClr val="lt1"/>
              </a:buClr>
              <a:buSzPts val="1800"/>
              <a:buNone/>
            </a:pPr>
            <a:r>
              <a:rPr lang="en-US" sz="3500" dirty="0"/>
              <a:t>Integration testing provides several advantages, which includes:</a:t>
            </a:r>
          </a:p>
          <a:p>
            <a:pPr marL="1257300" lvl="2" algn="l" rtl="0">
              <a:lnSpc>
                <a:spcPct val="90000"/>
              </a:lnSpc>
              <a:spcBef>
                <a:spcPts val="0"/>
              </a:spcBef>
              <a:spcAft>
                <a:spcPts val="0"/>
              </a:spcAft>
              <a:buClr>
                <a:schemeClr val="lt1"/>
              </a:buClr>
              <a:buSzPts val="1800"/>
              <a:buFont typeface="Arial" panose="020B0604020202020204" pitchFamily="34" charset="0"/>
              <a:buChar char="•"/>
            </a:pPr>
            <a:r>
              <a:rPr lang="en-US" sz="3500" dirty="0"/>
              <a:t>Detecting integration issues early by identifying  and rectifying issues when different components or modules of the software interact.</a:t>
            </a:r>
          </a:p>
          <a:p>
            <a:pPr marL="1257300" lvl="2" algn="l" rtl="0">
              <a:lnSpc>
                <a:spcPct val="90000"/>
              </a:lnSpc>
              <a:spcBef>
                <a:spcPts val="0"/>
              </a:spcBef>
              <a:spcAft>
                <a:spcPts val="0"/>
              </a:spcAft>
              <a:buClr>
                <a:schemeClr val="lt1"/>
              </a:buClr>
              <a:buSzPts val="1800"/>
              <a:buFont typeface="Arial" panose="020B0604020202020204" pitchFamily="34" charset="0"/>
              <a:buChar char="•"/>
            </a:pPr>
            <a:r>
              <a:rPr lang="en-US" sz="3500" dirty="0"/>
              <a:t>Cost effective and time saving , by early detection and resolution of integration issues developers  save both time and money.</a:t>
            </a:r>
          </a:p>
          <a:p>
            <a:pPr marL="1257300" lvl="2" algn="l" rtl="0">
              <a:lnSpc>
                <a:spcPct val="90000"/>
              </a:lnSpc>
              <a:spcBef>
                <a:spcPts val="0"/>
              </a:spcBef>
              <a:spcAft>
                <a:spcPts val="0"/>
              </a:spcAft>
              <a:buClr>
                <a:schemeClr val="lt1"/>
              </a:buClr>
              <a:buSzPts val="1800"/>
              <a:buFont typeface="Arial" panose="020B0604020202020204" pitchFamily="34" charset="0"/>
              <a:buChar char="•"/>
            </a:pPr>
            <a:r>
              <a:rPr lang="en-US" sz="3500" dirty="0"/>
              <a:t>Enhance software readability, by verifying that different parts of the application work well together.</a:t>
            </a:r>
          </a:p>
          <a:p>
            <a:pPr marL="1257300" lvl="2" algn="l" rtl="0">
              <a:lnSpc>
                <a:spcPct val="90000"/>
              </a:lnSpc>
              <a:spcBef>
                <a:spcPts val="0"/>
              </a:spcBef>
              <a:spcAft>
                <a:spcPts val="0"/>
              </a:spcAft>
              <a:buClr>
                <a:schemeClr val="lt1"/>
              </a:buClr>
              <a:buSzPts val="1800"/>
              <a:buFont typeface="Arial" panose="020B0604020202020204" pitchFamily="34" charset="0"/>
              <a:buChar char="•"/>
            </a:pPr>
            <a:r>
              <a:rPr lang="en-US" sz="3500" dirty="0"/>
              <a:t>Customer satisfaction, when the software is reliable and error-free it leads to higher customer satisfaction(Masquita.H,2025)</a:t>
            </a:r>
          </a:p>
          <a:p>
            <a:pPr marL="914400" lvl="2" indent="0" algn="l" rtl="0">
              <a:lnSpc>
                <a:spcPct val="90000"/>
              </a:lnSpc>
              <a:spcBef>
                <a:spcPts val="0"/>
              </a:spcBef>
              <a:spcAft>
                <a:spcPts val="0"/>
              </a:spcAft>
              <a:buClr>
                <a:schemeClr val="lt1"/>
              </a:buClr>
              <a:buSzPts val="1800"/>
              <a:buNone/>
            </a:pPr>
            <a:endParaRPr sz="2000" dirty="0"/>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CONCLUSION</a:t>
            </a:r>
            <a:endParaRPr dirty="0"/>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88900" algn="l" rtl="0">
              <a:lnSpc>
                <a:spcPct val="90000"/>
              </a:lnSpc>
              <a:spcBef>
                <a:spcPts val="1000"/>
              </a:spcBef>
              <a:spcAft>
                <a:spcPts val="0"/>
              </a:spcAft>
              <a:buClr>
                <a:schemeClr val="lt1"/>
              </a:buClr>
              <a:buSzPts val="2200"/>
              <a:buNone/>
            </a:pPr>
            <a:r>
              <a:rPr lang="en-US" dirty="0">
                <a:latin typeface="Century Gothic" panose="020B0502020202020204" pitchFamily="34" charset="0"/>
              </a:rPr>
              <a:t>This presentation provides outlined security specifications that can be implemented to prevent security threats. Security must be put in place  at all stages of the Software Development Life Cycle (SDLC). As developers we must work as a team to ensure that we apply best practices on all software systems. </a:t>
            </a:r>
            <a:r>
              <a:rPr lang="en-US" kern="100" dirty="0">
                <a:effectLst/>
                <a:latin typeface="Century Gothic" panose="020B0502020202020204" pitchFamily="34" charset="0"/>
                <a:ea typeface="Aptos" panose="020B0004020202020204" pitchFamily="34" charset="0"/>
                <a:cs typeface="Times New Roman" panose="02020603050405020304" pitchFamily="18" charset="0"/>
              </a:rPr>
              <a:t>Standardizing these rules ensures that security remains everyone's priority as Green Pace grows. Thank you, and I am happy to open the floor to any questions.</a:t>
            </a:r>
          </a:p>
          <a:p>
            <a:pPr marL="228600" lvl="0" indent="-88900" algn="l" rtl="0">
              <a:lnSpc>
                <a:spcPct val="90000"/>
              </a:lnSpc>
              <a:spcBef>
                <a:spcPts val="1000"/>
              </a:spcBef>
              <a:spcAft>
                <a:spcPts val="0"/>
              </a:spcAft>
              <a:buClr>
                <a:schemeClr val="lt1"/>
              </a:buClr>
              <a:buSzPts val="2200"/>
              <a:buNone/>
            </a:pP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indent="0">
              <a:spcBef>
                <a:spcPts val="0"/>
              </a:spcBef>
              <a:buSzPts val="2200"/>
              <a:buNone/>
            </a:pPr>
            <a:r>
              <a:rPr lang="en-US" dirty="0" err="1"/>
              <a:t>Masquita.H</a:t>
            </a:r>
            <a:r>
              <a:rPr lang="en-US" dirty="0"/>
              <a:t>.( 2025). </a:t>
            </a:r>
            <a:r>
              <a:rPr lang="en-US" dirty="0" err="1"/>
              <a:t>Medium.The</a:t>
            </a:r>
            <a:r>
              <a:rPr lang="en-US" dirty="0"/>
              <a:t> Importance of Integration Test in Software Development. https://</a:t>
            </a:r>
            <a:r>
              <a:rPr lang="en-US" dirty="0" err="1"/>
              <a:t>medium.com</a:t>
            </a:r>
            <a:r>
              <a:rPr lang="en-US" dirty="0"/>
              <a:t>/@</a:t>
            </a:r>
            <a:r>
              <a:rPr lang="en-US" dirty="0" err="1"/>
              <a:t>higor.mesquita</a:t>
            </a:r>
            <a:r>
              <a:rPr lang="en-US" dirty="0"/>
              <a:t>/the-importance-of-integration-tests-in-software-development-44cc88c8da4e</a:t>
            </a:r>
          </a:p>
          <a:p>
            <a:pPr marL="0" indent="0">
              <a:spcBef>
                <a:spcPts val="0"/>
              </a:spcBef>
              <a:buSzPts val="2200"/>
              <a:buNone/>
            </a:pPr>
            <a:endParaRPr lang="en-US" dirty="0"/>
          </a:p>
          <a:p>
            <a:pPr marL="0" indent="0">
              <a:spcBef>
                <a:spcPts val="0"/>
              </a:spcBef>
              <a:buSzPts val="2200"/>
              <a:buNone/>
            </a:pPr>
            <a:r>
              <a:rPr lang="en-US" dirty="0">
                <a:effectLst/>
              </a:rPr>
              <a:t>One Identity.(2026) .he best Identity Governance for Healthcare </a:t>
            </a:r>
            <a:r>
              <a:rPr lang="en-US" dirty="0" err="1">
                <a:effectLst/>
              </a:rPr>
              <a:t>IdentutyManagement.https</a:t>
            </a:r>
            <a:r>
              <a:rPr lang="en-US" dirty="0">
                <a:effectLst/>
              </a:rPr>
              <a:t>://</a:t>
            </a:r>
            <a:r>
              <a:rPr lang="en-US" dirty="0" err="1">
                <a:effectLst/>
              </a:rPr>
              <a:t>www.oneidentity</a:t>
            </a:r>
            <a:r>
              <a:rPr lang="en-US" dirty="0">
                <a:effectLst/>
              </a:rPr>
              <a:t> </a:t>
            </a:r>
          </a:p>
          <a:p>
            <a:pPr marL="0" indent="0">
              <a:spcBef>
                <a:spcPts val="0"/>
              </a:spcBef>
              <a:buSzPts val="2200"/>
              <a:buNone/>
            </a:pPr>
            <a:endParaRPr lang="en-US" dirty="0"/>
          </a:p>
          <a:p>
            <a:pPr marL="0" indent="0">
              <a:spcBef>
                <a:spcPts val="0"/>
              </a:spcBef>
              <a:buSzPts val="2200"/>
              <a:buNone/>
            </a:pPr>
            <a:r>
              <a:rPr lang="en-US" dirty="0" err="1"/>
              <a:t>Ryther.J</a:t>
            </a:r>
            <a:r>
              <a:rPr lang="en-US" dirty="0"/>
              <a:t>.(2022).Medium. Don’t Leave Security to The </a:t>
            </a:r>
            <a:r>
              <a:rPr lang="en-US" dirty="0" err="1"/>
              <a:t>End.https</a:t>
            </a:r>
            <a:r>
              <a:rPr lang="en-US" dirty="0"/>
              <a:t>://</a:t>
            </a:r>
            <a:r>
              <a:rPr lang="en-US" dirty="0" err="1"/>
              <a:t>medium.com</a:t>
            </a:r>
            <a:r>
              <a:rPr lang="en-US" dirty="0"/>
              <a:t>/@jryther91/dont-leave-security-to-the-end-ca13b107d4</a:t>
            </a:r>
          </a:p>
          <a:p>
            <a:pPr marL="0" indent="0">
              <a:spcBef>
                <a:spcPts val="0"/>
              </a:spcBef>
              <a:buSzPts val="2200"/>
              <a:buNone/>
            </a:pPr>
            <a:r>
              <a:rPr lang="en-US" dirty="0"/>
              <a:t> </a:t>
            </a:r>
          </a:p>
          <a:p>
            <a:pPr marL="0" indent="0">
              <a:spcBef>
                <a:spcPts val="0"/>
              </a:spcBef>
              <a:buSzPts val="2200"/>
              <a:buNone/>
            </a:pPr>
            <a:endParaRPr dirty="0"/>
          </a:p>
        </p:txBody>
      </p:sp>
      <p:pic>
        <p:nvPicPr>
          <p:cNvPr id="239" name="Google Shape;239;p1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2.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3174</TotalTime>
  <Words>1761</Words>
  <Application>Microsoft Macintosh PowerPoint</Application>
  <PresentationFormat>Widescreen</PresentationFormat>
  <Paragraphs>128</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Times New Roman</vt:lpstr>
      <vt:lpstr>Century Gothic</vt:lpstr>
      <vt:lpstr>Vapor Trail</vt:lpstr>
      <vt:lpstr>Green Pace</vt:lpstr>
      <vt:lpstr>OVERVIEW</vt:lpstr>
      <vt:lpstr>OVERVIEW: DEFENSE IN DEPTH</vt:lpstr>
      <vt:lpstr>THREATS MATRIX</vt:lpstr>
      <vt:lpstr>10 PRINCIPLES</vt:lpstr>
      <vt:lpstr>CODING STANDARDS</vt:lpstr>
      <vt:lpstr>ENCRYPTION POLICIES</vt:lpstr>
      <vt:lpstr>TRIPLE-A POLICIES</vt:lpstr>
      <vt:lpstr>Unit Testing</vt:lpstr>
      <vt:lpstr>Unit Testing</vt:lpstr>
      <vt:lpstr>Unit Testing</vt:lpstr>
      <vt:lpstr>AUTOMATION SUMMARY</vt:lpstr>
      <vt:lpstr>TOOLS</vt:lpstr>
      <vt:lpstr>RISKS AND BENEFITS</vt:lpstr>
      <vt:lpstr>RECOMMENDATIONS</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Blackwood, Kimberly</cp:lastModifiedBy>
  <cp:revision>22</cp:revision>
  <dcterms:created xsi:type="dcterms:W3CDTF">2020-08-19T17:59:24Z</dcterms:created>
  <dcterms:modified xsi:type="dcterms:W3CDTF">2026-06-29T01:03:36Z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